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17B8E-37CB-4875-92A7-622EA9D60256}" v="33" dt="2026-02-09T23:12:45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0C60-3B3D-EA30-3F0F-23C383395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2EF19-234D-0993-5C85-AB13D443C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E4A5-FB4B-7249-37AF-7D34E15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15958-58DF-6964-94F2-0078D146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6157-2E2D-63E7-270D-D476A467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2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45A2-C96A-227A-C434-1F716031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5EC0-0C7F-6A0F-91CB-FDC731CCF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C2893-EA88-31BE-5F94-067ADDCFD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4E46-8216-8AAF-D25D-BBEEF03F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CB54F-4F44-F30B-1890-BF6AFF55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4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EB0D-F01B-AA32-88FB-324828C8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8A371-DA21-7C48-E041-C444DAF2B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69E5-337B-48F4-1A8A-311A30C1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8AD34-97BD-82A2-EAD9-C6690C30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77DDA-55F6-BE2F-A1CF-68667652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7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74B2-326F-A3A8-57C6-966592CD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F88C-EB4C-779C-7C8D-B7866CB6C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017E6-2108-EDF2-98A3-13DC16EBD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33BEF-0A58-3A62-A2B7-FC0FBF08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8100E-B665-83F7-77BE-CC6CD63D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CFFF5-D0D7-0AC6-56E1-A569B2E4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0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6F40-F82C-2CD4-27AA-060E57CC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5F45E-9AB9-10E0-F127-FA69F56CF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13A0D-7002-BD4E-5B49-5B747FA1B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4317C-909B-39F1-7D08-5A43280D0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0E5B2-D585-9887-5B66-CACCF4247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5FE9A-8794-4897-6E64-704C0E8F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B9988-643F-8446-5F06-B07A798A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3893D-05A3-65CD-7879-6BB09FAB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0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8B5E-CE2C-74A1-3B42-AACD58E5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EC1C7-D7B5-6976-D557-5F0D4348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AFD32-AE95-3A7F-F55D-4594F298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89DFA-ADAA-C2E2-F88D-833DBB50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7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B833D-69CE-8CCB-CC0F-FD35CFB3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419A3-F066-6470-D999-CEAB77EB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147BB-39FA-EE8C-516E-4BAF0CFF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9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299B-52ED-45E4-50BD-227B6F28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28D5-27EF-F7EA-F1AA-10BAACBF5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8CE7F-4ACC-3498-CD77-BB858D0A9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6CCFC-D731-DC0E-9A92-28CE945D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1CB47-13DC-4BA5-36B6-BE5FBC93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C1909-046D-1850-81FE-7FFDBF47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3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1629-17DF-3ABA-8CD0-09A9A8D3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1158F-5BC3-0BC2-D6DE-AB28D1130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6A9E1-8B9A-FA5D-1D0C-C70472AB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6F2D3-9571-B830-8076-862F76D5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169F-D479-AB74-4E08-CFC5B65D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E0108-57F7-7780-02F2-889FC4C6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0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CBBE-B8D5-B93E-EC0E-9E50BDF3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17F93-553F-D722-EAC6-8405C213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AE2E-D21F-15B9-FA99-F7A6552E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5F013-4933-2B7C-8E4F-00F8F340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370C4-F823-B660-C87F-AC74A10F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1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AAAD0-7BCA-E95B-770D-670B88B9B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C84A-9503-DC37-D6B0-F0EFDA51C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3B9F7-802A-8BE3-5EA7-3A7D820F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B86B-A0BF-5D55-A57C-DF561977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78BD-B5D6-6B4E-B2B1-C9CEEA72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7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ED567-1660-DE33-5C27-F0FE6A2F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FC43C-469A-53DA-16F6-BB4FBA680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ACBA5-530B-A29D-5A5F-6415056FF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7DBCF-4B90-4999-9218-3D62E16624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06CF0-C2F2-FDCF-C4D5-6E068DBDF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8242A-968B-63F0-A974-E57C14024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E446-08FD-C8F2-219B-C9B66D254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sr-Latn-RS" sz="4800">
                <a:solidFill>
                  <a:srgbClr val="FFFFFF"/>
                </a:solidFill>
              </a:rPr>
              <a:t>Nearest string problem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DC161-2002-A170-1A82-263DEDCC0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sr-Latn-RS" dirty="0"/>
              <a:t>Vojkan Panić 138/2019</a:t>
            </a:r>
            <a:endParaRPr lang="sr-Latn-RS"/>
          </a:p>
          <a:p>
            <a:pPr algn="l"/>
            <a:r>
              <a:rPr lang="sr-Latn-RS" dirty="0"/>
              <a:t>Stefan Novaković 43/2021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1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D10EE-846B-FA99-E7F0-4EB49D9E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Definicja problema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1DCD6-5DEB-956D-7F9D-473EA5DF9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sr-Latn-RS" sz="1700"/>
                  <a:t>D</a:t>
                </a:r>
                <a:r>
                  <a:rPr lang="en-US" sz="1700"/>
                  <a:t>at je skup od n stringova</a:t>
                </a:r>
                <a:br>
                  <a:rPr lang="sr-Latn-RS" sz="1700"/>
                </a:br>
                <a:br>
                  <a:rPr lang="sr-Latn-RS" sz="1700"/>
                </a:br>
                <a:r>
                  <a:rPr lang="sr-Latn-RS" sz="1700"/>
                  <a:t>	</a:t>
                </a:r>
                <a14:m>
                  <m:oMath xmlns:m="http://schemas.openxmlformats.org/officeDocument/2006/math">
                    <m:r>
                      <a:rPr lang="pt-BR" sz="17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17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pt-BR" sz="17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pt-BR" sz="1700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pt-BR" sz="17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sr-Latn-RS" sz="1700"/>
                </a:br>
                <a:br>
                  <a:rPr lang="sr-Latn-RS" sz="1700"/>
                </a:br>
                <a:r>
                  <a:rPr lang="en-US" sz="1700"/>
                  <a:t>gde je svaki string dužine m i definisan nad konačnim alfabetom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sz="1700"/>
                  <a:t>.</a:t>
                </a:r>
                <a:endParaRPr lang="sr-Latn-RS" sz="1700"/>
              </a:p>
              <a:p>
                <a:r>
                  <a:rPr lang="en-US" sz="1700"/>
                  <a:t>Cilj je pronaći string</a:t>
                </a:r>
                <a:br>
                  <a:rPr lang="en-US" sz="1700"/>
                </a:br>
                <a:br>
                  <a:rPr lang="sr-Latn-RS" sz="1700"/>
                </a:br>
                <a:r>
                  <a:rPr lang="sr-Latn-RS" sz="1700"/>
                  <a:t>	</a:t>
                </a:r>
                <a14:m>
                  <m:oMath xmlns:m="http://schemas.openxmlformats.org/officeDocument/2006/math">
                    <m:r>
                      <a:rPr lang="sr-Latn-RS" sz="17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sr-Latn-RS" sz="17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sr-Latn-RS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sr-Latn-RS" sz="1700" i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sr-Latn-RS" sz="17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br>
                  <a:rPr lang="en-US" sz="1700"/>
                </a:br>
                <a:br>
                  <a:rPr lang="en-US" sz="1700"/>
                </a:br>
                <a:r>
                  <a:rPr lang="en-US" sz="1700"/>
                  <a:t>koji minimizuje maksimalno Hamingovo rastojanje do svih ulaznih stringova:</a:t>
                </a:r>
                <a:br>
                  <a:rPr lang="en-US" sz="1700"/>
                </a:br>
                <a:br>
                  <a:rPr lang="en-US" sz="1700"/>
                </a:br>
                <a:r>
                  <a:rPr lang="en-US" sz="170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7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pt-BR" sz="1700" i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Sup>
                              <m:sSubSup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pt-BR" sz="1700" i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fName>
                          <m:e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func>
                    <m:r>
                      <a:rPr lang="pt-BR" sz="17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sz="1700"/>
                </a:br>
                <a:br>
                  <a:rPr lang="en-US" sz="1700"/>
                </a:br>
                <a:r>
                  <a:rPr lang="en-US" sz="1700"/>
                  <a:t>gde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1700"/>
                  <a:t>Hamingovo rastojanje.</a:t>
                </a:r>
              </a:p>
              <a:p>
                <a:r>
                  <a:rPr lang="en-US" sz="1700"/>
                  <a:t>Hamingovo rastojanje između dva stringa iste dužine predstavlja broj pozicija na kojima se odgovarajućikarakteri razlikuju.</a:t>
                </a:r>
              </a:p>
              <a:p>
                <a:r>
                  <a:rPr lang="en-US" sz="1700"/>
                  <a:t>Ova mera prirodno kvantifikuje „sličnost“ između dva stringa.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1DCD6-5DEB-956D-7F9D-473EA5DF9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  <a:blipFill>
                <a:blip r:embed="rId2"/>
                <a:stretch>
                  <a:fillRect l="-627" b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12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E4818-5C09-ED46-4CE1-3064B8E4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Algoritam grube sile (brute-force)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CDB2-E272-3326-0E40-CFCF92F9E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Algoritam</a:t>
            </a:r>
            <a:r>
              <a:rPr lang="en-US" sz="2000" dirty="0"/>
              <a:t> </a:t>
            </a:r>
            <a:r>
              <a:rPr lang="en-US" sz="2000" dirty="0" err="1"/>
              <a:t>grube</a:t>
            </a:r>
            <a:r>
              <a:rPr lang="en-US" sz="2000" dirty="0"/>
              <a:t> </a:t>
            </a:r>
            <a:r>
              <a:rPr lang="en-US" sz="2000" dirty="0" err="1"/>
              <a:t>sile</a:t>
            </a:r>
            <a:r>
              <a:rPr lang="en-US" sz="2000" dirty="0"/>
              <a:t> </a:t>
            </a:r>
            <a:r>
              <a:rPr lang="en-US" sz="2000" dirty="0" err="1"/>
              <a:t>podrazumeva</a:t>
            </a:r>
            <a:r>
              <a:rPr lang="en-US" sz="2000" dirty="0"/>
              <a:t>:</a:t>
            </a:r>
          </a:p>
          <a:p>
            <a:pPr lvl="1"/>
            <a:r>
              <a:rPr lang="sr-Latn-RS" sz="2000" dirty="0"/>
              <a:t>G</a:t>
            </a:r>
            <a:r>
              <a:rPr lang="en-US" sz="2000" dirty="0" err="1"/>
              <a:t>enerisanje</a:t>
            </a:r>
            <a:r>
              <a:rPr lang="en-US" sz="2000" dirty="0"/>
              <a:t> </a:t>
            </a:r>
            <a:r>
              <a:rPr lang="en-US" sz="2000" dirty="0" err="1"/>
              <a:t>svih</a:t>
            </a:r>
            <a:r>
              <a:rPr lang="en-US" sz="2000" dirty="0"/>
              <a:t> </a:t>
            </a:r>
            <a:r>
              <a:rPr lang="en-US" sz="2000" dirty="0" err="1"/>
              <a:t>mogu</a:t>
            </a:r>
            <a:r>
              <a:rPr lang="sr-Latn-RS" sz="2000" dirty="0"/>
              <a:t>ć</a:t>
            </a:r>
            <a:r>
              <a:rPr lang="en-US" sz="2000" dirty="0" err="1"/>
              <a:t>ih</a:t>
            </a:r>
            <a:r>
              <a:rPr lang="en-US" sz="2000" dirty="0"/>
              <a:t> </a:t>
            </a:r>
            <a:r>
              <a:rPr lang="en-US" sz="2000" dirty="0" err="1"/>
              <a:t>stringova</a:t>
            </a:r>
            <a:r>
              <a:rPr lang="en-US" sz="2000" dirty="0"/>
              <a:t> du</a:t>
            </a:r>
            <a:r>
              <a:rPr lang="sr-Latn-RS" sz="2000" dirty="0"/>
              <a:t>ž</a:t>
            </a:r>
            <a:r>
              <a:rPr lang="en-US" sz="2000" dirty="0" err="1"/>
              <a:t>ine</a:t>
            </a:r>
            <a:r>
              <a:rPr lang="en-US" sz="2000" dirty="0"/>
              <a:t> m kori</a:t>
            </a:r>
            <a:r>
              <a:rPr lang="sr-Latn-RS" sz="2000" dirty="0" err="1"/>
              <a:t>šć</a:t>
            </a:r>
            <a:r>
              <a:rPr lang="en-US" sz="2000" dirty="0" err="1"/>
              <a:t>enjem</a:t>
            </a:r>
            <a:r>
              <a:rPr lang="en-US" sz="2000" dirty="0"/>
              <a:t> </a:t>
            </a:r>
            <a:r>
              <a:rPr lang="en-US" sz="2000" dirty="0" err="1"/>
              <a:t>karaktera</a:t>
            </a:r>
            <a:r>
              <a:rPr lang="en-US" sz="2000" dirty="0"/>
              <a:t> </a:t>
            </a:r>
            <a:r>
              <a:rPr lang="en-US" sz="2000" dirty="0" err="1"/>
              <a:t>iz</a:t>
            </a:r>
            <a:r>
              <a:rPr lang="en-US" sz="2000" dirty="0"/>
              <a:t> </a:t>
            </a:r>
            <a:r>
              <a:rPr lang="en-US" sz="2000" dirty="0" err="1"/>
              <a:t>alfabeta</a:t>
            </a:r>
          </a:p>
          <a:p>
            <a:pPr lvl="1"/>
            <a:r>
              <a:rPr lang="en-US" sz="2000" dirty="0"/>
              <a:t>Ra</a:t>
            </a:r>
            <a:r>
              <a:rPr lang="sr-Latn-RS" sz="2000" dirty="0" err="1"/>
              <a:t>čunanje</a:t>
            </a:r>
            <a:r>
              <a:rPr lang="sr-Latn-RS" sz="2000" dirty="0"/>
              <a:t> </a:t>
            </a:r>
            <a:r>
              <a:rPr lang="en-US" sz="2000" dirty="0" err="1"/>
              <a:t>njihovih</a:t>
            </a:r>
            <a:r>
              <a:rPr lang="en-US" sz="2000" dirty="0"/>
              <a:t> </a:t>
            </a:r>
            <a:r>
              <a:rPr lang="en-US" sz="2000" dirty="0" err="1"/>
              <a:t>maksimalnih</a:t>
            </a:r>
            <a:r>
              <a:rPr lang="en-US" sz="2000" dirty="0"/>
              <a:t> </a:t>
            </a:r>
            <a:r>
              <a:rPr lang="en-US" sz="2000" dirty="0" err="1"/>
              <a:t>Hamingovih</a:t>
            </a:r>
            <a:r>
              <a:rPr lang="en-US" sz="2000" dirty="0"/>
              <a:t> </a:t>
            </a:r>
            <a:r>
              <a:rPr lang="en-US" sz="2000" dirty="0" err="1"/>
              <a:t>distanc</a:t>
            </a:r>
            <a:r>
              <a:rPr lang="sr-Latn-RS" sz="2000" dirty="0"/>
              <a:t>i</a:t>
            </a:r>
          </a:p>
          <a:p>
            <a:pPr lvl="1"/>
            <a:r>
              <a:rPr lang="sr-Latn-RS" sz="2000" dirty="0"/>
              <a:t>Poređenje </a:t>
            </a:r>
            <a:r>
              <a:rPr lang="en-US" sz="2000" dirty="0" err="1"/>
              <a:t>Hamingovih</a:t>
            </a:r>
            <a:r>
              <a:rPr lang="en-US" sz="2000" dirty="0"/>
              <a:t> </a:t>
            </a:r>
            <a:r>
              <a:rPr lang="en-US" sz="2000" dirty="0" err="1"/>
              <a:t>distanc</a:t>
            </a:r>
            <a:r>
              <a:rPr lang="sr-Latn-RS" sz="2000" dirty="0"/>
              <a:t>i</a:t>
            </a:r>
            <a:r>
              <a:rPr lang="en-US" sz="2000" dirty="0"/>
              <a:t> u </a:t>
            </a:r>
            <a:r>
              <a:rPr lang="en-US" sz="2000" dirty="0" err="1"/>
              <a:t>potrazi</a:t>
            </a:r>
            <a:r>
              <a:rPr lang="en-US" sz="2000" dirty="0"/>
              <a:t> za </a:t>
            </a:r>
            <a:r>
              <a:rPr lang="en-US" sz="2000" dirty="0" err="1"/>
              <a:t>najmanjom</a:t>
            </a:r>
            <a:r>
              <a:rPr lang="en-US" sz="2000" dirty="0"/>
              <a:t>.</a:t>
            </a:r>
            <a:endParaRPr lang="sr-Latn-R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47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10C65-CCC0-B900-349A-987F4872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Variable Neighborhood Search (VNS) sa lokalnom pretragom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ACB88-6781-4FE1-F862-1CEEF4AA6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Predloženi pristup zasniva se na iterativnom poboljšavanju kandidata-rešenja, pri čemu se koristi promena susedstva kako bi se izbeglo zaglavljivanje u lokalnim minimumima.</a:t>
            </a:r>
            <a:endParaRPr lang="sr-Latn-RS" sz="2000"/>
          </a:p>
          <a:p>
            <a:r>
              <a:rPr lang="en-US" sz="2000"/>
              <a:t>Algoritam se sastoji od sledećih faza:</a:t>
            </a:r>
            <a:endParaRPr lang="sr-Latn-RS" sz="2000"/>
          </a:p>
          <a:p>
            <a:pPr lvl="1"/>
            <a:r>
              <a:rPr lang="en-US" sz="2000"/>
              <a:t>Inicijalizacija    </a:t>
            </a:r>
            <a:endParaRPr lang="sr-Latn-RS" sz="2000"/>
          </a:p>
          <a:p>
            <a:pPr lvl="1"/>
            <a:r>
              <a:rPr lang="en-US" sz="2000"/>
              <a:t>Shaking faza</a:t>
            </a:r>
            <a:endParaRPr lang="sr-Latn-RS" sz="2000"/>
          </a:p>
          <a:p>
            <a:pPr lvl="1"/>
            <a:r>
              <a:rPr lang="en-US" sz="2000"/>
              <a:t>Lokalna pretraga </a:t>
            </a:r>
            <a:endParaRPr lang="sr-Latn-RS" sz="2000"/>
          </a:p>
          <a:p>
            <a:pPr lvl="1"/>
            <a:r>
              <a:rPr lang="en-US" sz="2000"/>
              <a:t>Pravilo prihvatanja </a:t>
            </a:r>
            <a:endParaRPr lang="sr-Latn-RS" sz="2000"/>
          </a:p>
          <a:p>
            <a:pPr lvl="1"/>
            <a:r>
              <a:rPr lang="en-US" sz="2000"/>
              <a:t>Promena susedstva</a:t>
            </a:r>
          </a:p>
        </p:txBody>
      </p:sp>
    </p:spTree>
    <p:extLst>
      <p:ext uri="{BB962C8B-B14F-4D97-AF65-F5344CB8AC3E}">
        <p14:creationId xmlns:p14="http://schemas.microsoft.com/office/powerpoint/2010/main" val="114424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DCD84-F9C2-8342-E234-1F752357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r-Latn-RS" sz="4000">
                <a:solidFill>
                  <a:srgbClr val="FFFFFF"/>
                </a:solidFill>
              </a:rPr>
              <a:t>Genetski algoritam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A94B-F326-5573-B3D7-37F44D502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Genetski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algoritam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predstavlja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populacionu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metaheuristiku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inspirisanu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prirodnom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selekcijom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evolucijom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sr-Latn-RS" sz="2000" dirty="0">
              <a:ea typeface="+mn-lt"/>
              <a:cs typeface="+mn-lt"/>
            </a:endParaRPr>
          </a:p>
          <a:p>
            <a:r>
              <a:rPr lang="en-US" sz="2000" dirty="0" err="1">
                <a:ea typeface="+mn-lt"/>
                <a:cs typeface="+mn-lt"/>
              </a:rPr>
              <a:t>Svaki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kandidat</a:t>
            </a:r>
            <a:r>
              <a:rPr lang="en-US" sz="2000" dirty="0">
                <a:ea typeface="+mn-lt"/>
                <a:cs typeface="+mn-lt"/>
              </a:rPr>
              <a:t> za </a:t>
            </a:r>
            <a:r>
              <a:rPr lang="en-US" sz="2000" dirty="0" err="1">
                <a:ea typeface="+mn-lt"/>
                <a:cs typeface="+mn-lt"/>
              </a:rPr>
              <a:t>rešenje</a:t>
            </a:r>
            <a:r>
              <a:rPr lang="en-US" sz="2000" dirty="0">
                <a:ea typeface="+mn-lt"/>
                <a:cs typeface="+mn-lt"/>
              </a:rPr>
              <a:t> Nearest String </a:t>
            </a:r>
            <a:r>
              <a:rPr lang="en-US" sz="2000" dirty="0" err="1">
                <a:ea typeface="+mn-lt"/>
                <a:cs typeface="+mn-lt"/>
              </a:rPr>
              <a:t>problema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predstavlja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jednu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jedinku</a:t>
            </a:r>
            <a:r>
              <a:rPr lang="en-US" sz="2000" dirty="0">
                <a:ea typeface="+mn-lt"/>
                <a:cs typeface="+mn-lt"/>
              </a:rPr>
              <a:t> u </a:t>
            </a:r>
            <a:r>
              <a:rPr lang="en-US" sz="2000" dirty="0" err="1">
                <a:ea typeface="+mn-lt"/>
                <a:cs typeface="+mn-lt"/>
              </a:rPr>
              <a:t>populaciji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sr-Latn-RS" dirty="0">
              <a:ea typeface="+mn-lt"/>
              <a:cs typeface="+mn-lt"/>
            </a:endParaRPr>
          </a:p>
          <a:p>
            <a:r>
              <a:rPr lang="en-US" sz="2000" dirty="0" err="1">
                <a:ea typeface="+mn-lt"/>
                <a:cs typeface="+mn-lt"/>
              </a:rPr>
              <a:t>Algoritam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sastoji</a:t>
            </a:r>
            <a:r>
              <a:rPr lang="en-US" sz="2000" dirty="0">
                <a:ea typeface="+mn-lt"/>
                <a:cs typeface="+mn-lt"/>
              </a:rPr>
              <a:t> od </a:t>
            </a:r>
            <a:r>
              <a:rPr lang="en-US" sz="2000" dirty="0" err="1">
                <a:ea typeface="+mn-lt"/>
                <a:cs typeface="+mn-lt"/>
              </a:rPr>
              <a:t>sledećih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faza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koje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ponavljaju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kroz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unapred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definisan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broj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generacija</a:t>
            </a:r>
            <a:r>
              <a:rPr lang="en-US" sz="2000" dirty="0">
                <a:ea typeface="+mn-lt"/>
                <a:cs typeface="+mn-lt"/>
              </a:rPr>
              <a:t>):</a:t>
            </a:r>
            <a:endParaRPr lang="sr-Latn-RS" dirty="0"/>
          </a:p>
          <a:p>
            <a:pPr lvl="1"/>
            <a:r>
              <a:rPr lang="en-US" sz="1600" err="1">
                <a:ea typeface="+mn-lt"/>
                <a:cs typeface="+mn-lt"/>
              </a:rPr>
              <a:t>Inicijalizacija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populacije</a:t>
            </a:r>
            <a:r>
              <a:rPr lang="en-US" sz="1600" dirty="0">
                <a:ea typeface="+mn-lt"/>
                <a:cs typeface="+mn-lt"/>
              </a:rPr>
              <a:t>,</a:t>
            </a:r>
            <a:endParaRPr lang="sr-Latn-RS" sz="1600"/>
          </a:p>
          <a:p>
            <a:pPr lvl="1"/>
            <a:r>
              <a:rPr lang="en-US" sz="1600" err="1">
                <a:ea typeface="+mn-lt"/>
                <a:cs typeface="+mn-lt"/>
              </a:rPr>
              <a:t>Procena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prilagođenosti</a:t>
            </a:r>
            <a:r>
              <a:rPr lang="en-US" sz="1600" dirty="0">
                <a:ea typeface="+mn-lt"/>
                <a:cs typeface="+mn-lt"/>
              </a:rPr>
              <a:t> (fitness),</a:t>
            </a:r>
            <a:endParaRPr lang="sr-Latn-RS" sz="1600"/>
          </a:p>
          <a:p>
            <a:pPr lvl="1"/>
            <a:r>
              <a:rPr lang="en-US" sz="1600" err="1">
                <a:ea typeface="+mn-lt"/>
                <a:cs typeface="+mn-lt"/>
              </a:rPr>
              <a:t>Selekcija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roditelja</a:t>
            </a:r>
            <a:r>
              <a:rPr lang="en-US" sz="1600" dirty="0">
                <a:ea typeface="+mn-lt"/>
                <a:cs typeface="+mn-lt"/>
              </a:rPr>
              <a:t>,</a:t>
            </a:r>
            <a:endParaRPr lang="sr-Latn-RS" sz="1600" dirty="0"/>
          </a:p>
          <a:p>
            <a:pPr lvl="1"/>
            <a:r>
              <a:rPr lang="en-US" sz="1600" err="1">
                <a:ea typeface="+mn-lt"/>
                <a:cs typeface="+mn-lt"/>
              </a:rPr>
              <a:t>Ukrštanje</a:t>
            </a:r>
            <a:r>
              <a:rPr lang="en-US" sz="1600" dirty="0">
                <a:ea typeface="+mn-lt"/>
                <a:cs typeface="+mn-lt"/>
              </a:rPr>
              <a:t>,</a:t>
            </a:r>
            <a:endParaRPr lang="sr-Latn-RS" sz="1600" dirty="0"/>
          </a:p>
          <a:p>
            <a:pPr lvl="1"/>
            <a:r>
              <a:rPr lang="en-US" sz="1600" err="1">
                <a:ea typeface="+mn-lt"/>
                <a:cs typeface="+mn-lt"/>
              </a:rPr>
              <a:t>Mutacija</a:t>
            </a:r>
            <a:r>
              <a:rPr lang="en-US" sz="1600" dirty="0">
                <a:ea typeface="+mn-lt"/>
                <a:cs typeface="+mn-lt"/>
              </a:rPr>
              <a:t>,</a:t>
            </a:r>
            <a:endParaRPr lang="sr-Latn-RS" sz="1600" dirty="0"/>
          </a:p>
          <a:p>
            <a:pPr lvl="1"/>
            <a:r>
              <a:rPr lang="en-US" sz="1600" err="1">
                <a:ea typeface="+mn-lt"/>
                <a:cs typeface="+mn-lt"/>
              </a:rPr>
              <a:t>Elitizam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formiranje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nove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generacije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550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A9CAA-1319-816F-06BF-8439E266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Eksperimentalni rezultati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ACFAE-6BCF-B3C9-11AB-9A727FB75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08" y="1966293"/>
            <a:ext cx="1060038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9039F-C477-1B0B-D918-57A13872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Zaklju</a:t>
            </a:r>
            <a:r>
              <a:rPr lang="sr-Latn-RS" sz="4000">
                <a:solidFill>
                  <a:srgbClr val="FFFFFF"/>
                </a:solidFill>
              </a:rPr>
              <a:t>čak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937-A94A-5D44-FAD0-BD396EC09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Nearest String problem je </a:t>
            </a:r>
            <a:r>
              <a:rPr lang="en-US" sz="2000" b="1"/>
              <a:t>NP-težak</a:t>
            </a:r>
            <a:r>
              <a:rPr lang="en-US" sz="2000"/>
              <a:t>, zbog čega su </a:t>
            </a:r>
            <a:r>
              <a:rPr lang="en-US" sz="2000" b="1"/>
              <a:t>heurističke metode neophodne</a:t>
            </a:r>
            <a:r>
              <a:rPr lang="en-US" sz="2000"/>
              <a:t> za veće instance.</a:t>
            </a:r>
          </a:p>
          <a:p>
            <a:r>
              <a:rPr lang="en-US" sz="2000"/>
              <a:t>Heuristički algoritmi zadržavaju </a:t>
            </a:r>
            <a:r>
              <a:rPr lang="en-US" sz="2000" b="1"/>
              <a:t>prihvatljivo vreme izvršavanja</a:t>
            </a:r>
            <a:r>
              <a:rPr lang="en-US" sz="2000"/>
              <a:t> i </a:t>
            </a:r>
            <a:r>
              <a:rPr lang="en-US" sz="2000" b="1"/>
              <a:t>stabilan kvalitet rešenja</a:t>
            </a:r>
            <a:r>
              <a:rPr lang="en-US" sz="2000"/>
              <a:t>.</a:t>
            </a:r>
          </a:p>
          <a:p>
            <a:r>
              <a:rPr lang="en-US" sz="2000"/>
              <a:t>Metaheuristike predstavljaju </a:t>
            </a:r>
            <a:r>
              <a:rPr lang="en-US" sz="2000" b="1"/>
              <a:t>najpraktičniji pristup</a:t>
            </a:r>
            <a:r>
              <a:rPr lang="en-US" sz="2000"/>
              <a:t> za Nearest String problem.</a:t>
            </a:r>
          </a:p>
          <a:p>
            <a:r>
              <a:rPr lang="en-US" sz="2000"/>
              <a:t>Genetski algoritam nudi </a:t>
            </a:r>
            <a:r>
              <a:rPr lang="en-US" sz="2000" b="1"/>
              <a:t>bolji kompromis</a:t>
            </a:r>
            <a:r>
              <a:rPr lang="en-US" sz="2000"/>
              <a:t> između kvaliteta rešenja i brzine</a:t>
            </a:r>
            <a:r>
              <a:rPr lang="sr-Latn-RS" sz="2000"/>
              <a:t> u odnosu na VNS pristup</a:t>
            </a:r>
            <a:r>
              <a:rPr lang="en-US" sz="2000"/>
              <a:t>.</a:t>
            </a:r>
          </a:p>
          <a:p>
            <a:r>
              <a:rPr lang="en-US" sz="2000"/>
              <a:t>Postoji prostor za unapređenje kroz:</a:t>
            </a:r>
          </a:p>
          <a:p>
            <a:pPr lvl="1"/>
            <a:r>
              <a:rPr lang="en-US" sz="2000"/>
              <a:t>hibridne algoritme (GA + lokalna pretraga),</a:t>
            </a:r>
          </a:p>
          <a:p>
            <a:pPr lvl="1"/>
            <a:r>
              <a:rPr lang="en-US" sz="2000"/>
              <a:t>adaptivno podešavanje parametara,</a:t>
            </a:r>
          </a:p>
          <a:p>
            <a:pPr lvl="1"/>
            <a:r>
              <a:rPr lang="en-US" sz="2000"/>
              <a:t>paralelizaciju.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7940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343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Nearest string problem</vt:lpstr>
      <vt:lpstr>Definicja problema</vt:lpstr>
      <vt:lpstr>Algoritam grube sile (brute-force)</vt:lpstr>
      <vt:lpstr>Variable Neighborhood Search (VNS) sa lokalnom pretragom</vt:lpstr>
      <vt:lpstr>Genetski algoritam</vt:lpstr>
      <vt:lpstr>Eksperimentalni rezultati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Vojkan Panic</dc:creator>
  <cp:lastModifiedBy>Vojkan Panic</cp:lastModifiedBy>
  <cp:revision>20</cp:revision>
  <dcterms:created xsi:type="dcterms:W3CDTF">2026-02-05T21:43:10Z</dcterms:created>
  <dcterms:modified xsi:type="dcterms:W3CDTF">2026-02-09T23:12:48Z</dcterms:modified>
</cp:coreProperties>
</file>
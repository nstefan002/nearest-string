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8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80C60-3B3D-EA30-3F0F-23C383395F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A2EF19-234D-0993-5C85-AB13D443C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EE4A5-FB4B-7249-37AF-7D34E15E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DBCF-4B90-4999-9218-3D62E16624E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15958-58DF-6964-94F2-0078D1461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16157-2E2D-63E7-270D-D476A467F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C07D-9C1C-4460-B17D-8FDD9B20F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221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445A2-C96A-227A-C434-1F7160313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75EC0-0C7F-6A0F-91CB-FDC731CCF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C2893-EA88-31BE-5F94-067ADDCFD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DBCF-4B90-4999-9218-3D62E16624E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84E46-8216-8AAF-D25D-BBEEF03F4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CB54F-4F44-F30B-1890-BF6AFF556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C07D-9C1C-4460-B17D-8FDD9B20F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46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4EB0D-F01B-AA32-88FB-324828C81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8A371-DA21-7C48-E041-C444DAF2B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969E5-337B-48F4-1A8A-311A30C1D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DBCF-4B90-4999-9218-3D62E16624E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8AD34-97BD-82A2-EAD9-C6690C30B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77DDA-55F6-BE2F-A1CF-686676526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C07D-9C1C-4460-B17D-8FDD9B20F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76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374B2-326F-A3A8-57C6-966592CDD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EF88C-EB4C-779C-7C8D-B7866CB6C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017E6-2108-EDF2-98A3-13DC16EBD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833BEF-0A58-3A62-A2B7-FC0FBF08C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DBCF-4B90-4999-9218-3D62E16624E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18100E-B665-83F7-77BE-CC6CD63D0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CFFF5-D0D7-0AC6-56E1-A569B2E46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C07D-9C1C-4460-B17D-8FDD9B20F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0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A6F40-F82C-2CD4-27AA-060E57CC4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5F45E-9AB9-10E0-F127-FA69F56CF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13A0D-7002-BD4E-5B49-5B747FA1B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84317C-909B-39F1-7D08-5A43280D0E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C0E5B2-D585-9887-5B66-CACCF4247F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5FE9A-8794-4897-6E64-704C0E8F6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DBCF-4B90-4999-9218-3D62E16624E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3B9988-643F-8446-5F06-B07A798A1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03893D-05A3-65CD-7879-6BB09FAB8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C07D-9C1C-4460-B17D-8FDD9B20F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907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B8B5E-CE2C-74A1-3B42-AACD58E53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DEC1C7-D7B5-6976-D557-5F0D43482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DBCF-4B90-4999-9218-3D62E16624E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AFD32-AE95-3A7F-F55D-4594F298C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F89DFA-ADAA-C2E2-F88D-833DBB50A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C07D-9C1C-4460-B17D-8FDD9B20F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875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EB833D-69CE-8CCB-CC0F-FD35CFB3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DBCF-4B90-4999-9218-3D62E16624E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B419A3-F066-6470-D999-CEAB77EBF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147BB-39FA-EE8C-516E-4BAF0CFFF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C07D-9C1C-4460-B17D-8FDD9B20F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797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C299B-52ED-45E4-50BD-227B6F289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A28D5-27EF-F7EA-F1AA-10BAACBF5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8CE7F-4ACC-3498-CD77-BB858D0A9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6CCFC-D731-DC0E-9A92-28CE945DD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DBCF-4B90-4999-9218-3D62E16624E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1CB47-13DC-4BA5-36B6-BE5FBC939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C1909-046D-1850-81FE-7FFDBF47A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C07D-9C1C-4460-B17D-8FDD9B20F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31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41629-17DF-3ABA-8CD0-09A9A8D32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11158F-5BC3-0BC2-D6DE-AB28D11300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06A9E1-8B9A-FA5D-1D0C-C70472AB5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6F2D3-9571-B830-8076-862F76D5F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DBCF-4B90-4999-9218-3D62E16624E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C169F-D479-AB74-4E08-CFC5B65D8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E0108-57F7-7780-02F2-889FC4C6E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C07D-9C1C-4460-B17D-8FDD9B20F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007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8CBBE-B8D5-B93E-EC0E-9E50BDF32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317F93-553F-D722-EAC6-8405C2131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AE2E-D21F-15B9-FA99-F7A6552EF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DBCF-4B90-4999-9218-3D62E16624E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5F013-4933-2B7C-8E4F-00F8F3408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370C4-F823-B660-C87F-AC74A10FB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C07D-9C1C-4460-B17D-8FDD9B20F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16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AAAD0-7BCA-E95B-770D-670B88B9B7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7C84A-9503-DC37-D6B0-F0EFDA51C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3B9F7-802A-8BE3-5EA7-3A7D820F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DBCF-4B90-4999-9218-3D62E16624E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8B86B-A0BF-5D55-A57C-DF561977A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378BD-B5D6-6B4E-B2B1-C9CEEA72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C07D-9C1C-4460-B17D-8FDD9B20F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378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2ED567-1660-DE33-5C27-F0FE6A2F9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FC43C-469A-53DA-16F6-BB4FBA680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ACBA5-530B-A29D-5A5F-6415056FFE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7DBCF-4B90-4999-9218-3D62E16624E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06CF0-C2F2-FDCF-C4D5-6E068DBDF3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8242A-968B-63F0-A974-E57C140247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C5C07D-9C1C-4460-B17D-8FDD9B20F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345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E5E446-08FD-C8F2-219B-C9B66D254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sr-Latn-RS" sz="4800">
                <a:solidFill>
                  <a:srgbClr val="FFFFFF"/>
                </a:solidFill>
              </a:rPr>
              <a:t>Nearest string problem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6DC161-2002-A170-1A82-263DEDCC0B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sr-Latn-RS" dirty="0"/>
              <a:t>Vojkan Panić 138/2019</a:t>
            </a:r>
            <a:endParaRPr lang="sr-Latn-RS"/>
          </a:p>
          <a:p>
            <a:pPr algn="l"/>
            <a:r>
              <a:rPr lang="sr-Latn-RS" dirty="0"/>
              <a:t>Stefan Novaković 43/2021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119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CD10EE-846B-FA99-E7F0-4EB49D9E9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Definicja problema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1DCD6-5DEB-956D-7F9D-473EA5DF9D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03158" y="649480"/>
                <a:ext cx="4862447" cy="5546047"/>
              </a:xfrm>
            </p:spPr>
            <p:txBody>
              <a:bodyPr anchor="ctr">
                <a:normAutofit/>
              </a:bodyPr>
              <a:lstStyle/>
              <a:p>
                <a:r>
                  <a:rPr lang="sr-Latn-RS" sz="1700"/>
                  <a:t>D</a:t>
                </a:r>
                <a:r>
                  <a:rPr lang="en-US" sz="1700"/>
                  <a:t>at je skup od n stringova</a:t>
                </a:r>
                <a:br>
                  <a:rPr lang="sr-Latn-RS" sz="1700"/>
                </a:br>
                <a:br>
                  <a:rPr lang="sr-Latn-RS" sz="1700"/>
                </a:br>
                <a:r>
                  <a:rPr lang="sr-Latn-RS" sz="1700"/>
                  <a:t>	</a:t>
                </a:r>
                <a14:m>
                  <m:oMath xmlns:m="http://schemas.openxmlformats.org/officeDocument/2006/math">
                    <m:r>
                      <a:rPr lang="pt-BR" sz="17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pt-BR" sz="17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pt-BR" sz="1700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pt-BR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17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17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pt-BR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pt-BR" sz="17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lit/>
                      </m:rPr>
                      <a:rPr lang="pt-BR" sz="1700" i="1">
                        <a:latin typeface="Cambria Math" panose="02040503050406030204" pitchFamily="18" charset="0"/>
                      </a:rPr>
                      <m:t>}</m:t>
                    </m:r>
                    <m:r>
                      <a:rPr lang="pt-BR" sz="17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br>
                  <a:rPr lang="sr-Latn-RS" sz="1700"/>
                </a:br>
                <a:br>
                  <a:rPr lang="sr-Latn-RS" sz="1700"/>
                </a:br>
                <a:r>
                  <a:rPr lang="en-US" sz="1700"/>
                  <a:t>gde je svaki string dužine m i definisan nad konačnim alfabetom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700" i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sz="1700"/>
                  <a:t>.</a:t>
                </a:r>
                <a:endParaRPr lang="sr-Latn-RS" sz="1700"/>
              </a:p>
              <a:p>
                <a:r>
                  <a:rPr lang="en-US" sz="1700"/>
                  <a:t>Cilj je pronaći string</a:t>
                </a:r>
                <a:br>
                  <a:rPr lang="en-US" sz="1700"/>
                </a:br>
                <a:br>
                  <a:rPr lang="sr-Latn-RS" sz="1700"/>
                </a:br>
                <a:r>
                  <a:rPr lang="sr-Latn-RS" sz="1700"/>
                  <a:t>	</a:t>
                </a:r>
                <a14:m>
                  <m:oMath xmlns:m="http://schemas.openxmlformats.org/officeDocument/2006/math">
                    <m:r>
                      <a:rPr lang="sr-Latn-RS" sz="17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sr-Latn-RS" sz="17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sr-Latn-RS" sz="17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sr-Latn-RS" sz="1700" i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sr-Latn-RS" sz="17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br>
                  <a:rPr lang="en-US" sz="1700"/>
                </a:br>
                <a:br>
                  <a:rPr lang="en-US" sz="1700"/>
                </a:br>
                <a:r>
                  <a:rPr lang="en-US" sz="1700"/>
                  <a:t>koji minimizuje maksimalno Hamingovo rastojanje do svih ulaznih stringova:</a:t>
                </a:r>
                <a:br>
                  <a:rPr lang="en-US" sz="1700"/>
                </a:br>
                <a:br>
                  <a:rPr lang="en-US" sz="1700"/>
                </a:br>
                <a:r>
                  <a:rPr lang="en-US" sz="1700"/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sz="17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sz="17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sz="1700" i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pt-BR" sz="17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pt-BR" sz="17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pt-BR" sz="17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pt-BR" sz="1700" i="0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pt-BR" sz="17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Sup>
                              <m:sSubSupPr>
                                <m:ctrlPr>
                                  <a:rPr lang="pt-BR" sz="17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pt-BR" sz="1700" i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sub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</m:fName>
                          <m:e>
                            <m:sSub>
                              <m:sSubPr>
                                <m:ctrlPr>
                                  <a:rPr lang="pt-BR" sz="17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pt-BR" sz="17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pt-BR" sz="17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pt-BR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7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pt-BR" sz="17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func>
                    <m:r>
                      <a:rPr lang="pt-BR" sz="17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br>
                  <a:rPr lang="en-US" sz="1700"/>
                </a:br>
                <a:br>
                  <a:rPr lang="en-US" sz="1700"/>
                </a:br>
                <a:r>
                  <a:rPr lang="en-US" sz="1700"/>
                  <a:t>gde je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sz="1700"/>
                  <a:t>Hamingovo rastojanje.</a:t>
                </a:r>
              </a:p>
              <a:p>
                <a:r>
                  <a:rPr lang="en-US" sz="1700"/>
                  <a:t>Hamingovo rastojanje između dva stringa iste dužine predstavlja broj pozicija na kojima se odgovarajućikarakteri razlikuju.</a:t>
                </a:r>
              </a:p>
              <a:p>
                <a:r>
                  <a:rPr lang="en-US" sz="1700"/>
                  <a:t>Ova mera prirodno kvantifikuje „sličnost“ između dva stringa.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1DCD6-5DEB-956D-7F9D-473EA5DF9D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03158" y="649480"/>
                <a:ext cx="4862447" cy="5546047"/>
              </a:xfrm>
              <a:blipFill>
                <a:blip r:embed="rId2"/>
                <a:stretch>
                  <a:fillRect l="-627" b="-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1125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E4818-5C09-ED46-4CE1-3064B8E4A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Algoritam grube sile (brute-force)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3CDB2-E272-3326-0E40-CFCF92F9E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Algoritam grube sile podrazumeva:</a:t>
            </a:r>
          </a:p>
          <a:p>
            <a:pPr lvl="1"/>
            <a:r>
              <a:rPr lang="sr-Latn-RS" sz="2000"/>
              <a:t>G</a:t>
            </a:r>
            <a:r>
              <a:rPr lang="en-US" sz="2000"/>
              <a:t>enerisanje svih mogu</a:t>
            </a:r>
            <a:r>
              <a:rPr lang="sr-Latn-RS" sz="2000"/>
              <a:t>ć</a:t>
            </a:r>
            <a:r>
              <a:rPr lang="en-US" sz="2000"/>
              <a:t>ih stringova du</a:t>
            </a:r>
            <a:r>
              <a:rPr lang="sr-Latn-RS" sz="2000"/>
              <a:t>ž</a:t>
            </a:r>
            <a:r>
              <a:rPr lang="en-US" sz="2000"/>
              <a:t>ine m kori</a:t>
            </a:r>
            <a:r>
              <a:rPr lang="sr-Latn-RS" sz="2000"/>
              <a:t>šć</a:t>
            </a:r>
            <a:r>
              <a:rPr lang="en-US" sz="2000"/>
              <a:t>enjem karaktera iz alfabeta</a:t>
            </a:r>
          </a:p>
          <a:p>
            <a:pPr lvl="1"/>
            <a:r>
              <a:rPr lang="en-US" sz="2000"/>
              <a:t>Ra</a:t>
            </a:r>
            <a:r>
              <a:rPr lang="sr-Latn-RS" sz="2000"/>
              <a:t>čunanje </a:t>
            </a:r>
            <a:r>
              <a:rPr lang="en-US" sz="2000"/>
              <a:t>njihovih maksimalnih Hemingovih distanc</a:t>
            </a:r>
            <a:r>
              <a:rPr lang="sr-Latn-RS" sz="2000"/>
              <a:t>i</a:t>
            </a:r>
          </a:p>
          <a:p>
            <a:pPr lvl="1"/>
            <a:r>
              <a:rPr lang="sr-Latn-RS" sz="2000"/>
              <a:t>Poređenje </a:t>
            </a:r>
            <a:r>
              <a:rPr lang="en-US" sz="2000"/>
              <a:t>Hemingovih distanc</a:t>
            </a:r>
            <a:r>
              <a:rPr lang="sr-Latn-RS" sz="2000"/>
              <a:t>i</a:t>
            </a:r>
            <a:r>
              <a:rPr lang="en-US" sz="2000"/>
              <a:t> u potrazi za najmanjom.</a:t>
            </a:r>
            <a:endParaRPr lang="sr-Latn-RS" sz="200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14785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710C65-CCC0-B900-349A-987F48722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Variable Neighborhood Search (VNS) sa lokalnom pretragom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ACB88-6781-4FE1-F862-1CEEF4AA6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Predloženi pristup zasniva se na iterativnom poboljšavanju kandidata-rešenja, pri čemu se koristi promena susedstva kako bi se izbeglo zaglavljivanje u lokalnim minimumima.</a:t>
            </a:r>
            <a:endParaRPr lang="sr-Latn-RS" sz="2000"/>
          </a:p>
          <a:p>
            <a:r>
              <a:rPr lang="en-US" sz="2000"/>
              <a:t>Algoritam se sastoji od sledećih faza:</a:t>
            </a:r>
            <a:endParaRPr lang="sr-Latn-RS" sz="2000"/>
          </a:p>
          <a:p>
            <a:pPr lvl="1"/>
            <a:r>
              <a:rPr lang="en-US" sz="2000"/>
              <a:t>Inicijalizacija    </a:t>
            </a:r>
            <a:endParaRPr lang="sr-Latn-RS" sz="2000"/>
          </a:p>
          <a:p>
            <a:pPr lvl="1"/>
            <a:r>
              <a:rPr lang="en-US" sz="2000"/>
              <a:t>Shaking faza</a:t>
            </a:r>
            <a:endParaRPr lang="sr-Latn-RS" sz="2000"/>
          </a:p>
          <a:p>
            <a:pPr lvl="1"/>
            <a:r>
              <a:rPr lang="en-US" sz="2000"/>
              <a:t>Lokalna pretraga </a:t>
            </a:r>
            <a:endParaRPr lang="sr-Latn-RS" sz="2000"/>
          </a:p>
          <a:p>
            <a:pPr lvl="1"/>
            <a:r>
              <a:rPr lang="en-US" sz="2000"/>
              <a:t>Pravilo prihvatanja </a:t>
            </a:r>
            <a:endParaRPr lang="sr-Latn-RS" sz="2000"/>
          </a:p>
          <a:p>
            <a:pPr lvl="1"/>
            <a:r>
              <a:rPr lang="en-US" sz="2000"/>
              <a:t>Promena susedstva</a:t>
            </a:r>
          </a:p>
        </p:txBody>
      </p:sp>
    </p:spTree>
    <p:extLst>
      <p:ext uri="{BB962C8B-B14F-4D97-AF65-F5344CB8AC3E}">
        <p14:creationId xmlns:p14="http://schemas.microsoft.com/office/powerpoint/2010/main" val="1144246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DCD84-F9C2-8342-E234-1F7523572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sr-Latn-RS" sz="4000">
                <a:solidFill>
                  <a:srgbClr val="FFFFFF"/>
                </a:solidFill>
              </a:rPr>
              <a:t>Genetski algoritam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7A94B-F326-5573-B3D7-37F44D502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Genetski algoritam predstavlja populacionu metaheuristiku inspirisanu procesima prirodne selekcije i evolucije.</a:t>
            </a:r>
            <a:endParaRPr lang="sr-Latn-RS" sz="2000"/>
          </a:p>
          <a:p>
            <a:r>
              <a:rPr lang="en-US" sz="2000"/>
              <a:t>U ovom pristupu, svako kandidat-rešenje Nearest String problema predstavlja jednu jedinku u populaciji, dok se iterativnim primenom selekcije, ukrštanja i mutacije populacija evoluira ka kvalitetnijim rešenjima.</a:t>
            </a:r>
            <a:endParaRPr lang="sr-Latn-RS" sz="2000"/>
          </a:p>
          <a:p>
            <a:r>
              <a:rPr lang="en-US" sz="2000"/>
              <a:t>Algoritam se sastoji od sledećih faza:</a:t>
            </a:r>
            <a:endParaRPr lang="sr-Latn-RS" sz="2000"/>
          </a:p>
          <a:p>
            <a:pPr lvl="1"/>
            <a:r>
              <a:rPr lang="en-US" sz="2000"/>
              <a:t>Inicijalizacija populacije</a:t>
            </a:r>
            <a:endParaRPr lang="sr-Latn-RS" sz="2000"/>
          </a:p>
          <a:p>
            <a:pPr lvl="1"/>
            <a:r>
              <a:rPr lang="en-US" sz="2000"/>
              <a:t>Procena prilagođenosti (fitness)</a:t>
            </a:r>
            <a:endParaRPr lang="sr-Latn-RS" sz="2000"/>
          </a:p>
          <a:p>
            <a:pPr lvl="1"/>
            <a:r>
              <a:rPr lang="en-US" sz="2000"/>
              <a:t>Selekcija roditelja</a:t>
            </a:r>
            <a:endParaRPr lang="sr-Latn-RS" sz="2000"/>
          </a:p>
          <a:p>
            <a:pPr lvl="1"/>
            <a:r>
              <a:rPr lang="en-US" sz="2000"/>
              <a:t>Ukrštanje</a:t>
            </a:r>
            <a:endParaRPr lang="sr-Latn-RS" sz="2000"/>
          </a:p>
          <a:p>
            <a:pPr lvl="1"/>
            <a:r>
              <a:rPr lang="en-US" sz="2000"/>
              <a:t>Mutacija</a:t>
            </a:r>
            <a:endParaRPr lang="sr-Latn-RS" sz="2000"/>
          </a:p>
          <a:p>
            <a:pPr lvl="1"/>
            <a:r>
              <a:rPr lang="en-US" sz="2000"/>
              <a:t>Elitizam i formiranje nove generacije.</a:t>
            </a:r>
          </a:p>
        </p:txBody>
      </p:sp>
    </p:spTree>
    <p:extLst>
      <p:ext uri="{BB962C8B-B14F-4D97-AF65-F5344CB8AC3E}">
        <p14:creationId xmlns:p14="http://schemas.microsoft.com/office/powerpoint/2010/main" val="3065508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3A9CAA-1319-816F-06BF-8439E266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Eksperimentalni rezultati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4ACFAE-6BCF-B3C9-11AB-9A727FB75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08" y="1966293"/>
            <a:ext cx="10600383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46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C9039F-C477-1B0B-D918-57A13872F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Zaklju</a:t>
            </a:r>
            <a:r>
              <a:rPr lang="sr-Latn-RS" sz="4000">
                <a:solidFill>
                  <a:srgbClr val="FFFFFF"/>
                </a:solidFill>
              </a:rPr>
              <a:t>čak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C9937-A94A-5D44-FAD0-BD396EC09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Nearest String problem je </a:t>
            </a:r>
            <a:r>
              <a:rPr lang="en-US" sz="2000" b="1"/>
              <a:t>NP-težak</a:t>
            </a:r>
            <a:r>
              <a:rPr lang="en-US" sz="2000"/>
              <a:t>, zbog čega su </a:t>
            </a:r>
            <a:r>
              <a:rPr lang="en-US" sz="2000" b="1"/>
              <a:t>heurističke metode neophodne</a:t>
            </a:r>
            <a:r>
              <a:rPr lang="en-US" sz="2000"/>
              <a:t> za veće instance.</a:t>
            </a:r>
          </a:p>
          <a:p>
            <a:r>
              <a:rPr lang="en-US" sz="2000"/>
              <a:t>Heuristički algoritmi zadržavaju </a:t>
            </a:r>
            <a:r>
              <a:rPr lang="en-US" sz="2000" b="1"/>
              <a:t>prihvatljivo vreme izvršavanja</a:t>
            </a:r>
            <a:r>
              <a:rPr lang="en-US" sz="2000"/>
              <a:t> i </a:t>
            </a:r>
            <a:r>
              <a:rPr lang="en-US" sz="2000" b="1"/>
              <a:t>stabilan kvalitet rešenja</a:t>
            </a:r>
            <a:r>
              <a:rPr lang="en-US" sz="2000"/>
              <a:t>.</a:t>
            </a:r>
          </a:p>
          <a:p>
            <a:r>
              <a:rPr lang="en-US" sz="2000"/>
              <a:t>Metaheuristike predstavljaju </a:t>
            </a:r>
            <a:r>
              <a:rPr lang="en-US" sz="2000" b="1"/>
              <a:t>najpraktičniji pristup</a:t>
            </a:r>
            <a:r>
              <a:rPr lang="en-US" sz="2000"/>
              <a:t> za Nearest String problem.</a:t>
            </a:r>
          </a:p>
          <a:p>
            <a:r>
              <a:rPr lang="en-US" sz="2000"/>
              <a:t>Genetski algoritam nudi </a:t>
            </a:r>
            <a:r>
              <a:rPr lang="en-US" sz="2000" b="1"/>
              <a:t>bolji kompromis</a:t>
            </a:r>
            <a:r>
              <a:rPr lang="en-US" sz="2000"/>
              <a:t> između kvaliteta rešenja i brzine</a:t>
            </a:r>
            <a:r>
              <a:rPr lang="sr-Latn-RS" sz="2000"/>
              <a:t> u odnosu na VNS pristup</a:t>
            </a:r>
            <a:r>
              <a:rPr lang="en-US" sz="2000"/>
              <a:t>.</a:t>
            </a:r>
          </a:p>
          <a:p>
            <a:r>
              <a:rPr lang="en-US" sz="2000"/>
              <a:t>Postoji prostor za unapređenje kroz:</a:t>
            </a:r>
          </a:p>
          <a:p>
            <a:pPr lvl="1"/>
            <a:r>
              <a:rPr lang="en-US" sz="2000"/>
              <a:t>hibridne algoritme (GA + lokalna pretraga),</a:t>
            </a:r>
          </a:p>
          <a:p>
            <a:pPr lvl="1"/>
            <a:r>
              <a:rPr lang="en-US" sz="2000"/>
              <a:t>adaptivno podešavanje parametara,</a:t>
            </a:r>
          </a:p>
          <a:p>
            <a:pPr lvl="1"/>
            <a:r>
              <a:rPr lang="en-US" sz="2000"/>
              <a:t>paralelizaciju.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879401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964</TotalTime>
  <Words>343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Nearest string problem</vt:lpstr>
      <vt:lpstr>Definicja problema</vt:lpstr>
      <vt:lpstr>Algoritam grube sile (brute-force)</vt:lpstr>
      <vt:lpstr>Variable Neighborhood Search (VNS) sa lokalnom pretragom</vt:lpstr>
      <vt:lpstr>Genetski algoritam</vt:lpstr>
      <vt:lpstr>Eksperimentalni rezultati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Vojkan Panic</dc:creator>
  <cp:lastModifiedBy>Vojkan Panic</cp:lastModifiedBy>
  <cp:revision>6</cp:revision>
  <dcterms:created xsi:type="dcterms:W3CDTF">2026-02-05T21:43:10Z</dcterms:created>
  <dcterms:modified xsi:type="dcterms:W3CDTF">2026-02-07T11:53:58Z</dcterms:modified>
</cp:coreProperties>
</file>